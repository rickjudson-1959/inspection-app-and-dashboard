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3" r:id="rId5"/>
    <p:sldId id="262" r:id="rId6"/>
    <p:sldId id="264" r:id="rId7"/>
    <p:sldId id="265" r:id="rId8"/>
    <p:sldId id="260" r:id="rId9"/>
    <p:sldId id="261" r:id="rId10"/>
  </p:sldIdLst>
  <p:sldSz cx="12192000" cy="68580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4" d="100"/>
          <a:sy n="94" d="100"/>
        </p:scale>
        <p:origin x="22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9/28/2016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accountspayable@Pembina.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Fox to </a:t>
            </a:r>
            <a:r>
              <a:rPr lang="en-US" dirty="0" err="1" smtClean="0"/>
              <a:t>Namao</a:t>
            </a:r>
            <a:r>
              <a:rPr lang="en-US" dirty="0" smtClean="0"/>
              <a:t> Expansion</a:t>
            </a:r>
            <a:endParaRPr lang="en-US" dirty="0"/>
          </a:p>
        </p:txBody>
      </p:sp>
      <p:sp>
        <p:nvSpPr>
          <p:cNvPr id="3" name="Subtitle 2"/>
          <p:cNvSpPr>
            <a:spLocks noGrp="1"/>
          </p:cNvSpPr>
          <p:nvPr>
            <p:ph type="subTitle" idx="1"/>
          </p:nvPr>
        </p:nvSpPr>
        <p:spPr/>
        <p:txBody>
          <a:bodyPr/>
          <a:lstStyle/>
          <a:p>
            <a:r>
              <a:rPr lang="en-US" dirty="0" smtClean="0"/>
              <a:t>Contracts Administration </a:t>
            </a:r>
          </a:p>
          <a:p>
            <a:endParaRPr lang="en-US" dirty="0" smtClean="0"/>
          </a:p>
          <a:p>
            <a:endParaRPr lang="en-US" dirty="0"/>
          </a:p>
        </p:txBody>
      </p:sp>
    </p:spTree>
    <p:extLst>
      <p:ext uri="{BB962C8B-B14F-4D97-AF65-F5344CB8AC3E}">
        <p14:creationId xmlns:p14="http://schemas.microsoft.com/office/powerpoint/2010/main" val="1066130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761356" y="1175657"/>
            <a:ext cx="8398474" cy="4701186"/>
          </a:xfrm>
          <a:prstGeom prst="rect">
            <a:avLst/>
          </a:prstGeom>
        </p:spPr>
      </p:pic>
    </p:spTree>
    <p:extLst>
      <p:ext uri="{BB962C8B-B14F-4D97-AF65-F5344CB8AC3E}">
        <p14:creationId xmlns:p14="http://schemas.microsoft.com/office/powerpoint/2010/main" val="35766077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Accruals Reporting</a:t>
            </a:r>
            <a:endParaRPr lang="en-US" dirty="0"/>
          </a:p>
        </p:txBody>
      </p:sp>
      <p:sp>
        <p:nvSpPr>
          <p:cNvPr id="8" name="Content Placeholder 7"/>
          <p:cNvSpPr>
            <a:spLocks noGrp="1"/>
          </p:cNvSpPr>
          <p:nvPr>
            <p:ph idx="1"/>
          </p:nvPr>
        </p:nvSpPr>
        <p:spPr/>
        <p:txBody>
          <a:bodyPr>
            <a:normAutofit/>
          </a:bodyPr>
          <a:lstStyle/>
          <a:p>
            <a:r>
              <a:rPr lang="en-US" sz="1100" b="1" dirty="0" smtClean="0"/>
              <a:t>Daily Tickets, Timesheets, </a:t>
            </a:r>
            <a:r>
              <a:rPr lang="en-US" sz="1100" b="1" dirty="0" smtClean="0"/>
              <a:t>LEMs </a:t>
            </a:r>
            <a:r>
              <a:rPr lang="en-US" sz="1100" b="1" dirty="0"/>
              <a:t>input  in Cost tracker</a:t>
            </a:r>
          </a:p>
          <a:p>
            <a:pPr lvl="1">
              <a:buFont typeface="Wingdings" panose="05000000000000000000" pitchFamily="2" charset="2"/>
              <a:buChar char="§"/>
            </a:pPr>
            <a:r>
              <a:rPr lang="en-US" sz="1050" dirty="0"/>
              <a:t>Approved by </a:t>
            </a:r>
            <a:r>
              <a:rPr lang="en-US" sz="1050" dirty="0" smtClean="0"/>
              <a:t>Inspector, Site Manager, CM</a:t>
            </a:r>
            <a:r>
              <a:rPr lang="en-US" sz="1050" dirty="0"/>
              <a:t>, PM </a:t>
            </a:r>
            <a:r>
              <a:rPr lang="en-US" sz="1050" dirty="0" smtClean="0"/>
              <a:t>as applicable</a:t>
            </a:r>
            <a:endParaRPr lang="en-US" sz="1050" dirty="0"/>
          </a:p>
          <a:p>
            <a:pPr lvl="1">
              <a:buFont typeface="Wingdings" panose="05000000000000000000" pitchFamily="2" charset="2"/>
              <a:buChar char="§"/>
            </a:pPr>
            <a:r>
              <a:rPr lang="en-US" sz="1050" dirty="0" smtClean="0"/>
              <a:t>Verified against PO / Contract</a:t>
            </a:r>
          </a:p>
          <a:p>
            <a:pPr marL="457200" lvl="1" indent="0">
              <a:buNone/>
            </a:pPr>
            <a:endParaRPr lang="en-US" sz="1050" dirty="0" smtClean="0"/>
          </a:p>
          <a:p>
            <a:r>
              <a:rPr lang="en-US" sz="1100" b="1" dirty="0" smtClean="0"/>
              <a:t>RFI, Change Orders Request input  in Cost tracker</a:t>
            </a:r>
            <a:endParaRPr lang="en-US" sz="1100" b="1" dirty="0"/>
          </a:p>
          <a:p>
            <a:pPr lvl="1">
              <a:buFont typeface="Wingdings" panose="05000000000000000000" pitchFamily="2" charset="2"/>
              <a:buChar char="§"/>
            </a:pPr>
            <a:r>
              <a:rPr lang="en-US" sz="1050" dirty="0" smtClean="0"/>
              <a:t>Approved by CM, PM </a:t>
            </a:r>
          </a:p>
          <a:p>
            <a:pPr marL="457200" lvl="1" indent="0">
              <a:buNone/>
            </a:pPr>
            <a:endParaRPr lang="en-US" sz="1050" dirty="0" smtClean="0"/>
          </a:p>
          <a:p>
            <a:r>
              <a:rPr lang="en-US" sz="1100" b="1" dirty="0" smtClean="0"/>
              <a:t>Weekly statement  with signed tickets forwarded to Project Coordinator  and Vendor  (for inclusion with invoice)</a:t>
            </a:r>
            <a:endParaRPr lang="en-US" sz="1100" b="1" dirty="0"/>
          </a:p>
          <a:p>
            <a:pPr lvl="1">
              <a:buFont typeface="Wingdings" panose="05000000000000000000" pitchFamily="2" charset="2"/>
              <a:buChar char="§"/>
            </a:pPr>
            <a:r>
              <a:rPr lang="en-US" sz="1050" dirty="0" smtClean="0"/>
              <a:t>Statement signed by Site Administrator and Construction Manager</a:t>
            </a:r>
          </a:p>
          <a:p>
            <a:pPr lvl="1">
              <a:buFont typeface="Wingdings" panose="05000000000000000000" pitchFamily="2" charset="2"/>
              <a:buChar char="§"/>
            </a:pPr>
            <a:r>
              <a:rPr lang="en-US" sz="1050" dirty="0" smtClean="0"/>
              <a:t>Statement to include:  PO#,  Vendor’s name, AFE,  Statement number  (consecutive),  locked by date i.e.  July 15-21  </a:t>
            </a:r>
          </a:p>
          <a:p>
            <a:pPr marL="457200" lvl="1" indent="0">
              <a:buNone/>
            </a:pPr>
            <a:endParaRPr lang="en-US" dirty="0"/>
          </a:p>
          <a:p>
            <a:r>
              <a:rPr lang="en-US" sz="1100" b="1" dirty="0" smtClean="0"/>
              <a:t>Cost tracker emailed on weekly basis to Contracts Administrator and Project Coordinator</a:t>
            </a:r>
            <a:endParaRPr lang="en-US" sz="1100" b="1" dirty="0"/>
          </a:p>
          <a:p>
            <a:pPr marL="457200" lvl="1" indent="0">
              <a:buNone/>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smtClean="0"/>
          </a:p>
        </p:txBody>
      </p:sp>
    </p:spTree>
    <p:extLst>
      <p:ext uri="{BB962C8B-B14F-4D97-AF65-F5344CB8AC3E}">
        <p14:creationId xmlns:p14="http://schemas.microsoft.com/office/powerpoint/2010/main" val="38710489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Weekly Accruals Reporting</a:t>
            </a:r>
            <a:endParaRPr lang="en-US" dirty="0"/>
          </a:p>
        </p:txBody>
      </p:sp>
      <p:sp>
        <p:nvSpPr>
          <p:cNvPr id="4" name="Content Placeholder 3"/>
          <p:cNvSpPr>
            <a:spLocks noGrp="1"/>
          </p:cNvSpPr>
          <p:nvPr>
            <p:ph idx="1"/>
          </p:nvPr>
        </p:nvSpPr>
        <p:spPr/>
        <p:txBody>
          <a:bodyPr/>
          <a:lstStyle/>
          <a:p>
            <a:endParaRPr lang="en-US" dirty="0" smtClean="0"/>
          </a:p>
          <a:p>
            <a:r>
              <a:rPr lang="en-US" dirty="0" smtClean="0"/>
              <a:t>Based on Cost tracker sheets as maintained by Field Office Administrator</a:t>
            </a:r>
          </a:p>
          <a:p>
            <a:pPr marL="0" indent="0">
              <a:buNone/>
            </a:pPr>
            <a:endParaRPr lang="en-US" dirty="0" smtClean="0"/>
          </a:p>
          <a:p>
            <a:r>
              <a:rPr lang="en-US" dirty="0" smtClean="0"/>
              <a:t>Send once a week on an agreed day </a:t>
            </a:r>
          </a:p>
          <a:p>
            <a:pPr marL="0" indent="0">
              <a:buNone/>
            </a:pPr>
            <a:r>
              <a:rPr lang="en-US" dirty="0"/>
              <a:t> </a:t>
            </a:r>
            <a:r>
              <a:rPr lang="en-US" dirty="0" smtClean="0"/>
              <a:t>     (</a:t>
            </a:r>
            <a:r>
              <a:rPr lang="en-US" sz="1200" b="1" i="1" dirty="0" smtClean="0"/>
              <a:t>This information is independent from weekly/bi-weekly statements and or Progress Reports)</a:t>
            </a:r>
          </a:p>
          <a:p>
            <a:pPr marL="0" indent="0">
              <a:buNone/>
            </a:pPr>
            <a:endParaRPr lang="en-US" sz="1200" b="1" i="1" dirty="0"/>
          </a:p>
          <a:p>
            <a:pPr marL="0" indent="0">
              <a:buNone/>
            </a:pPr>
            <a:endParaRPr lang="en-US" sz="1400" b="1" dirty="0" smtClean="0"/>
          </a:p>
          <a:p>
            <a:r>
              <a:rPr lang="en-US" b="1" i="1" dirty="0" smtClean="0"/>
              <a:t>Information as built in Cost tracker is sufficient for this purpose</a:t>
            </a:r>
            <a:endParaRPr lang="en-US" b="1" i="1" dirty="0"/>
          </a:p>
          <a:p>
            <a:pPr marL="0" indent="0">
              <a:buNone/>
            </a:pPr>
            <a:endParaRPr lang="en-US" sz="1200" b="1" i="1" dirty="0" smtClean="0"/>
          </a:p>
          <a:p>
            <a:pPr marL="0" indent="0">
              <a:buNone/>
            </a:pPr>
            <a:endParaRPr lang="en-US" sz="1200" b="1" i="1" dirty="0"/>
          </a:p>
          <a:p>
            <a:pPr marL="0" indent="0">
              <a:buNone/>
            </a:pPr>
            <a:endParaRPr lang="en-US" b="1" i="1" dirty="0" smtClean="0"/>
          </a:p>
          <a:p>
            <a:endParaRPr lang="en-US" dirty="0"/>
          </a:p>
          <a:p>
            <a:endParaRPr lang="en-US" dirty="0" smtClean="0"/>
          </a:p>
          <a:p>
            <a:endParaRPr lang="en-US" dirty="0"/>
          </a:p>
        </p:txBody>
      </p:sp>
    </p:spTree>
    <p:extLst>
      <p:ext uri="{BB962C8B-B14F-4D97-AF65-F5344CB8AC3E}">
        <p14:creationId xmlns:p14="http://schemas.microsoft.com/office/powerpoint/2010/main" val="3032253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Weekly/Bi-Weekly Statements</a:t>
            </a:r>
            <a:endParaRPr lang="en-US" dirty="0"/>
          </a:p>
        </p:txBody>
      </p:sp>
      <p:sp>
        <p:nvSpPr>
          <p:cNvPr id="10" name="Content Placeholder 9"/>
          <p:cNvSpPr>
            <a:spLocks noGrp="1"/>
          </p:cNvSpPr>
          <p:nvPr>
            <p:ph idx="1"/>
          </p:nvPr>
        </p:nvSpPr>
        <p:spPr/>
        <p:txBody>
          <a:bodyPr>
            <a:normAutofit fontScale="62500" lnSpcReduction="20000"/>
          </a:bodyPr>
          <a:lstStyle/>
          <a:p>
            <a:pPr marL="0" indent="0">
              <a:buNone/>
            </a:pPr>
            <a:r>
              <a:rPr lang="en-US" b="1" dirty="0" smtClean="0"/>
              <a:t>Weekly/Bi-Weekly statements to include:</a:t>
            </a:r>
          </a:p>
          <a:p>
            <a:r>
              <a:rPr lang="en-US" dirty="0" smtClean="0"/>
              <a:t>Tickets, </a:t>
            </a:r>
          </a:p>
          <a:p>
            <a:r>
              <a:rPr lang="en-US" dirty="0" smtClean="0"/>
              <a:t>Timesheets,  </a:t>
            </a:r>
          </a:p>
          <a:p>
            <a:r>
              <a:rPr lang="en-US" dirty="0" smtClean="0"/>
              <a:t>3</a:t>
            </a:r>
            <a:r>
              <a:rPr lang="en-US" baseline="30000" dirty="0" smtClean="0"/>
              <a:t>rd</a:t>
            </a:r>
            <a:r>
              <a:rPr lang="en-US" dirty="0" smtClean="0"/>
              <a:t> Party invoices,</a:t>
            </a:r>
          </a:p>
          <a:p>
            <a:r>
              <a:rPr lang="en-US" dirty="0" smtClean="0"/>
              <a:t>Progress Reports,</a:t>
            </a:r>
          </a:p>
          <a:p>
            <a:pPr marL="0" indent="0">
              <a:buNone/>
            </a:pPr>
            <a:endParaRPr lang="en-US" dirty="0"/>
          </a:p>
          <a:p>
            <a:pPr marL="0" indent="0">
              <a:buNone/>
            </a:pPr>
            <a:r>
              <a:rPr lang="en-US" b="1" dirty="0" smtClean="0"/>
              <a:t>Sign off on Tickets, Timesheets, 3</a:t>
            </a:r>
            <a:r>
              <a:rPr lang="en-US" b="1" baseline="30000" dirty="0" smtClean="0"/>
              <a:t>rd</a:t>
            </a:r>
            <a:r>
              <a:rPr lang="en-US" b="1" dirty="0" smtClean="0"/>
              <a:t> Party invoices, Progress Reports as per authorized parties and as applicable to the PO:</a:t>
            </a:r>
          </a:p>
          <a:p>
            <a:r>
              <a:rPr lang="en-US" dirty="0" smtClean="0"/>
              <a:t>Inspectors</a:t>
            </a:r>
          </a:p>
          <a:p>
            <a:r>
              <a:rPr lang="en-US" dirty="0" smtClean="0"/>
              <a:t>Supervisor</a:t>
            </a:r>
          </a:p>
          <a:p>
            <a:r>
              <a:rPr lang="en-US" dirty="0" smtClean="0"/>
              <a:t>Construction Manager</a:t>
            </a:r>
          </a:p>
          <a:p>
            <a:pPr marL="0" indent="0">
              <a:buNone/>
            </a:pPr>
            <a:endParaRPr lang="en-US" dirty="0"/>
          </a:p>
          <a:p>
            <a:pPr marL="0" indent="0">
              <a:buNone/>
            </a:pPr>
            <a:r>
              <a:rPr lang="en-US" b="1" dirty="0" smtClean="0"/>
              <a:t>Statements, Progress Reports sign off:</a:t>
            </a:r>
          </a:p>
          <a:p>
            <a:r>
              <a:rPr lang="en-US" dirty="0" smtClean="0"/>
              <a:t>Reviewed by Field Office Administrator</a:t>
            </a:r>
          </a:p>
          <a:p>
            <a:r>
              <a:rPr lang="en-US" dirty="0" smtClean="0"/>
              <a:t>Sign off:    Construction Manager/Office Administrator					</a:t>
            </a:r>
          </a:p>
        </p:txBody>
      </p:sp>
    </p:spTree>
    <p:extLst>
      <p:ext uri="{BB962C8B-B14F-4D97-AF65-F5344CB8AC3E}">
        <p14:creationId xmlns:p14="http://schemas.microsoft.com/office/powerpoint/2010/main" val="41343073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Weekly/Bi-Weekly Statements</a:t>
            </a:r>
            <a:endParaRPr lang="en-US" dirty="0"/>
          </a:p>
        </p:txBody>
      </p:sp>
      <p:sp>
        <p:nvSpPr>
          <p:cNvPr id="5" name="Content Placeholder 4"/>
          <p:cNvSpPr>
            <a:spLocks noGrp="1"/>
          </p:cNvSpPr>
          <p:nvPr>
            <p:ph idx="1"/>
          </p:nvPr>
        </p:nvSpPr>
        <p:spPr/>
        <p:txBody>
          <a:bodyPr/>
          <a:lstStyle/>
          <a:p>
            <a:r>
              <a:rPr lang="en-US" dirty="0" smtClean="0"/>
              <a:t>Vendor may provide his statement for approval</a:t>
            </a:r>
          </a:p>
          <a:p>
            <a:r>
              <a:rPr lang="en-US" dirty="0" smtClean="0"/>
              <a:t>Statements must be accompanied by corresponding Tickets, Timesheets, 3</a:t>
            </a:r>
            <a:r>
              <a:rPr lang="en-US" baseline="30000" dirty="0" smtClean="0"/>
              <a:t>rd</a:t>
            </a:r>
            <a:r>
              <a:rPr lang="en-US" dirty="0" smtClean="0"/>
              <a:t> Party Invoices where applicable</a:t>
            </a:r>
          </a:p>
          <a:p>
            <a:r>
              <a:rPr lang="en-US" dirty="0" smtClean="0"/>
              <a:t>Statement with sign off by Construction Manager and Field Office Administrator is to be returned to vendor to be included with his invoice sent to Accounts Payable   and  to  Project Coordinator to enable input against PO.</a:t>
            </a:r>
          </a:p>
          <a:p>
            <a:r>
              <a:rPr lang="en-US" dirty="0" smtClean="0"/>
              <a:t>Where Vendor does not produce the weekly/bi-weekly statements, Field office to provide same with sign off as applicable to Project Coordinator</a:t>
            </a:r>
            <a:endParaRPr lang="en-US" dirty="0"/>
          </a:p>
        </p:txBody>
      </p:sp>
    </p:spTree>
    <p:extLst>
      <p:ext uri="{BB962C8B-B14F-4D97-AF65-F5344CB8AC3E}">
        <p14:creationId xmlns:p14="http://schemas.microsoft.com/office/powerpoint/2010/main" val="42890003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Inspectors - Timesheets</a:t>
            </a:r>
            <a:endParaRPr lang="en-US" dirty="0"/>
          </a:p>
        </p:txBody>
      </p:sp>
      <p:sp>
        <p:nvSpPr>
          <p:cNvPr id="3" name="Content Placeholder 2"/>
          <p:cNvSpPr>
            <a:spLocks noGrp="1"/>
          </p:cNvSpPr>
          <p:nvPr>
            <p:ph idx="1"/>
          </p:nvPr>
        </p:nvSpPr>
        <p:spPr>
          <a:xfrm>
            <a:off x="2589212" y="1771650"/>
            <a:ext cx="8915400" cy="4139572"/>
          </a:xfrm>
        </p:spPr>
        <p:txBody>
          <a:bodyPr>
            <a:normAutofit fontScale="92500" lnSpcReduction="20000"/>
          </a:bodyPr>
          <a:lstStyle/>
          <a:p>
            <a:r>
              <a:rPr lang="en-US" dirty="0" smtClean="0"/>
              <a:t>Timesheets are statements by itself</a:t>
            </a:r>
          </a:p>
          <a:p>
            <a:pPr marL="0" indent="0">
              <a:buNone/>
            </a:pPr>
            <a:endParaRPr lang="en-US" dirty="0" smtClean="0"/>
          </a:p>
          <a:p>
            <a:r>
              <a:rPr lang="en-US" dirty="0" smtClean="0"/>
              <a:t>Field office to input timesheets in Cost Tracker  (or daily tickets as needed by field to record daily, weekly, bi-weekly work)</a:t>
            </a:r>
          </a:p>
          <a:p>
            <a:pPr marL="0" indent="0">
              <a:buNone/>
            </a:pPr>
            <a:endParaRPr lang="en-US" dirty="0"/>
          </a:p>
          <a:p>
            <a:r>
              <a:rPr lang="en-US" dirty="0" smtClean="0"/>
              <a:t>This information will feed the weekly accruals reporting</a:t>
            </a:r>
          </a:p>
          <a:p>
            <a:endParaRPr lang="en-US" dirty="0"/>
          </a:p>
          <a:p>
            <a:r>
              <a:rPr lang="en-US" dirty="0" smtClean="0"/>
              <a:t>Timesheet approved by Construction Manager/Office Administrator becomes a Statement  </a:t>
            </a:r>
            <a:r>
              <a:rPr lang="en-US" sz="1300" b="1" i="1" dirty="0" smtClean="0"/>
              <a:t>(Additional sign off may be required, same are handled in Head Office)</a:t>
            </a:r>
          </a:p>
          <a:p>
            <a:pPr marL="0" indent="0">
              <a:buNone/>
            </a:pPr>
            <a:endParaRPr lang="en-US" sz="1300" b="1" i="1" dirty="0" smtClean="0"/>
          </a:p>
          <a:p>
            <a:r>
              <a:rPr lang="en-US" dirty="0" smtClean="0"/>
              <a:t>Approved Timesheets in the field to be sent to Vendor and Project Coordinator</a:t>
            </a:r>
          </a:p>
          <a:p>
            <a:pPr marL="0" indent="0">
              <a:buNone/>
            </a:pPr>
            <a:endParaRPr lang="en-US" dirty="0" smtClean="0"/>
          </a:p>
          <a:p>
            <a:r>
              <a:rPr lang="en-US" dirty="0" smtClean="0"/>
              <a:t>Vendor to include signed Timesheets with their invoice to A/P</a:t>
            </a:r>
          </a:p>
          <a:p>
            <a:pPr marL="0" indent="0">
              <a:buNone/>
            </a:pPr>
            <a:endParaRPr lang="en-US" dirty="0" smtClean="0"/>
          </a:p>
          <a:p>
            <a:endParaRPr lang="en-US" dirty="0"/>
          </a:p>
          <a:p>
            <a:endParaRPr lang="en-US" dirty="0"/>
          </a:p>
        </p:txBody>
      </p:sp>
    </p:spTree>
    <p:extLst>
      <p:ext uri="{BB962C8B-B14F-4D97-AF65-F5344CB8AC3E}">
        <p14:creationId xmlns:p14="http://schemas.microsoft.com/office/powerpoint/2010/main" val="36524246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Vendor’s Invoicing</a:t>
            </a:r>
            <a:br>
              <a:rPr lang="en-US" dirty="0" smtClean="0"/>
            </a:br>
            <a:r>
              <a:rPr lang="en-US" dirty="0"/>
              <a:t/>
            </a:r>
            <a:br>
              <a:rPr lang="en-US" dirty="0"/>
            </a:b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Invoices  (with tickets/timesheets/3</a:t>
            </a:r>
            <a:r>
              <a:rPr lang="en-US" baseline="30000" dirty="0" smtClean="0"/>
              <a:t>rd</a:t>
            </a:r>
            <a:r>
              <a:rPr lang="en-US" dirty="0" smtClean="0"/>
              <a:t> party charges)</a:t>
            </a:r>
            <a:endParaRPr lang="en-US" sz="1100" b="1" dirty="0"/>
          </a:p>
          <a:p>
            <a:pPr lvl="1">
              <a:buFont typeface="Wingdings" panose="05000000000000000000" pitchFamily="2" charset="2"/>
              <a:buChar char="§"/>
            </a:pPr>
            <a:r>
              <a:rPr lang="en-US" sz="1050" dirty="0" smtClean="0"/>
              <a:t>Vendor to email invoices to </a:t>
            </a:r>
            <a:r>
              <a:rPr lang="en-US" sz="1050" dirty="0" smtClean="0">
                <a:hlinkClick r:id="rId2"/>
              </a:rPr>
              <a:t>accountspayable@Pembina.com</a:t>
            </a:r>
            <a:r>
              <a:rPr lang="en-US" sz="1050" dirty="0" smtClean="0"/>
              <a:t> </a:t>
            </a:r>
          </a:p>
          <a:p>
            <a:pPr lvl="1">
              <a:buFont typeface="Wingdings" panose="05000000000000000000" pitchFamily="2" charset="2"/>
              <a:buChar char="§"/>
            </a:pPr>
            <a:r>
              <a:rPr lang="en-US" sz="1050" dirty="0" smtClean="0"/>
              <a:t>Invoices must be accompanied by signed statements (Site Administrator and Construction Manager) with corresponding back up tickets/timesheets signed by authorized rep.</a:t>
            </a:r>
          </a:p>
          <a:p>
            <a:pPr marL="457200" lvl="1" indent="0">
              <a:buNone/>
            </a:pPr>
            <a:endParaRPr lang="en-US" sz="1050" dirty="0" smtClean="0"/>
          </a:p>
          <a:p>
            <a:r>
              <a:rPr lang="en-US" dirty="0"/>
              <a:t>Invoices  </a:t>
            </a:r>
            <a:r>
              <a:rPr lang="en-US" dirty="0" smtClean="0"/>
              <a:t>(Inspections Services)</a:t>
            </a:r>
            <a:endParaRPr lang="en-US" sz="1100" b="1" dirty="0"/>
          </a:p>
          <a:p>
            <a:pPr lvl="1">
              <a:buFont typeface="Wingdings" panose="05000000000000000000" pitchFamily="2" charset="2"/>
              <a:buChar char="§"/>
            </a:pPr>
            <a:r>
              <a:rPr lang="en-US" sz="1050" dirty="0"/>
              <a:t>Vendor to email invoices to </a:t>
            </a:r>
            <a:r>
              <a:rPr lang="en-US" sz="1050" dirty="0">
                <a:hlinkClick r:id="rId2"/>
              </a:rPr>
              <a:t>accountspayable@Pembina.com</a:t>
            </a:r>
            <a:r>
              <a:rPr lang="en-US" sz="1050" dirty="0"/>
              <a:t> </a:t>
            </a:r>
          </a:p>
          <a:p>
            <a:pPr lvl="1">
              <a:buFont typeface="Wingdings" panose="05000000000000000000" pitchFamily="2" charset="2"/>
              <a:buChar char="§"/>
            </a:pPr>
            <a:r>
              <a:rPr lang="en-US" sz="1050" dirty="0"/>
              <a:t>Invoices must be accompanied by signed </a:t>
            </a:r>
            <a:r>
              <a:rPr lang="en-US" sz="1050" dirty="0" smtClean="0"/>
              <a:t>statements and/or timesheets (Construction </a:t>
            </a:r>
            <a:r>
              <a:rPr lang="en-US" sz="1050" dirty="0"/>
              <a:t>Manager</a:t>
            </a:r>
            <a:r>
              <a:rPr lang="en-US" sz="1050" dirty="0" smtClean="0"/>
              <a:t>)</a:t>
            </a:r>
            <a:endParaRPr lang="en-US" sz="1050" dirty="0"/>
          </a:p>
          <a:p>
            <a:pPr lvl="1">
              <a:buFont typeface="Wingdings" panose="05000000000000000000" pitchFamily="2" charset="2"/>
              <a:buChar char="§"/>
            </a:pPr>
            <a:endParaRPr lang="en-US" sz="1050" dirty="0"/>
          </a:p>
          <a:p>
            <a:r>
              <a:rPr lang="en-US" dirty="0" smtClean="0"/>
              <a:t>Invoices  (Progress payments) </a:t>
            </a:r>
            <a:endParaRPr lang="en-US" sz="1100" b="1" dirty="0"/>
          </a:p>
          <a:p>
            <a:pPr lvl="1">
              <a:buFont typeface="Wingdings" panose="05000000000000000000" pitchFamily="2" charset="2"/>
              <a:buChar char="§"/>
            </a:pPr>
            <a:r>
              <a:rPr lang="en-US" sz="1050" dirty="0"/>
              <a:t>Vendor to email invoices to </a:t>
            </a:r>
            <a:r>
              <a:rPr lang="en-US" sz="1050" dirty="0">
                <a:hlinkClick r:id="rId2"/>
              </a:rPr>
              <a:t>accountspayable@Pembina.com</a:t>
            </a:r>
            <a:r>
              <a:rPr lang="en-US" sz="1050" dirty="0"/>
              <a:t> </a:t>
            </a:r>
          </a:p>
          <a:p>
            <a:pPr lvl="1">
              <a:buFont typeface="Wingdings" panose="05000000000000000000" pitchFamily="2" charset="2"/>
              <a:buChar char="§"/>
            </a:pPr>
            <a:r>
              <a:rPr lang="en-US" sz="1050" dirty="0"/>
              <a:t>Invoices must </a:t>
            </a:r>
            <a:r>
              <a:rPr lang="en-US" sz="1050" dirty="0" smtClean="0"/>
              <a:t>be accompanied by </a:t>
            </a:r>
            <a:r>
              <a:rPr lang="en-US" sz="1050" dirty="0"/>
              <a:t>signed </a:t>
            </a:r>
            <a:r>
              <a:rPr lang="en-US" sz="1050" dirty="0" smtClean="0"/>
              <a:t>Progress report (Site Administrator </a:t>
            </a:r>
            <a:r>
              <a:rPr lang="en-US" sz="1050" dirty="0"/>
              <a:t>and Construction Manager) with corresponding back up </a:t>
            </a:r>
            <a:r>
              <a:rPr lang="en-US" sz="1050" dirty="0" smtClean="0"/>
              <a:t>as applicable according to PO.</a:t>
            </a:r>
            <a:endParaRPr lang="en-US" sz="1050" dirty="0"/>
          </a:p>
          <a:p>
            <a:pPr marL="457200" lvl="1" indent="0">
              <a:buNone/>
            </a:pPr>
            <a:endParaRPr lang="en-US" sz="1050" dirty="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4659323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81447" y="971549"/>
            <a:ext cx="10115893" cy="5424071"/>
          </a:xfrm>
          <a:prstGeom prst="rect">
            <a:avLst/>
          </a:prstGeom>
        </p:spPr>
      </p:pic>
    </p:spTree>
    <p:extLst>
      <p:ext uri="{BB962C8B-B14F-4D97-AF65-F5344CB8AC3E}">
        <p14:creationId xmlns:p14="http://schemas.microsoft.com/office/powerpoint/2010/main" val="3392567077"/>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455</TotalTime>
  <Words>490</Words>
  <Application>Microsoft Office PowerPoint</Application>
  <PresentationFormat>Widescreen</PresentationFormat>
  <Paragraphs>102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Wingdings</vt:lpstr>
      <vt:lpstr>Wingdings 3</vt:lpstr>
      <vt:lpstr>Wisp</vt:lpstr>
      <vt:lpstr>Fox to Namao Expansion</vt:lpstr>
      <vt:lpstr>PowerPoint Presentation</vt:lpstr>
      <vt:lpstr>Accruals Reporting</vt:lpstr>
      <vt:lpstr>Weekly Accruals Reporting</vt:lpstr>
      <vt:lpstr>Weekly/Bi-Weekly Statements</vt:lpstr>
      <vt:lpstr>Weekly/Bi-Weekly Statements</vt:lpstr>
      <vt:lpstr>Inspectors - Timesheets</vt:lpstr>
      <vt:lpstr>Vendor’s Invoicing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 Orders</dc:title>
  <dc:creator>Liliana Mendoza</dc:creator>
  <cp:lastModifiedBy>Liliana Mendoza</cp:lastModifiedBy>
  <cp:revision>35</cp:revision>
  <cp:lastPrinted>2016-08-26T15:13:59Z</cp:lastPrinted>
  <dcterms:created xsi:type="dcterms:W3CDTF">2016-07-12T18:37:55Z</dcterms:created>
  <dcterms:modified xsi:type="dcterms:W3CDTF">2016-09-28T18:22:17Z</dcterms:modified>
</cp:coreProperties>
</file>