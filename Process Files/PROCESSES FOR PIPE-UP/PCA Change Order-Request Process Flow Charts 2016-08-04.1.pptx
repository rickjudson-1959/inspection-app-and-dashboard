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0" r:id="rId2"/>
    <p:sldId id="263" r:id="rId3"/>
    <p:sldId id="285" r:id="rId4"/>
    <p:sldId id="286" r:id="rId5"/>
    <p:sldId id="287" r:id="rId6"/>
  </p:sldIdLst>
  <p:sldSz cx="12188825" cy="6858000"/>
  <p:notesSz cx="6950075" cy="9236075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6661"/>
    <a:srgbClr val="FFFF00"/>
    <a:srgbClr val="B6D1DC"/>
    <a:srgbClr val="7A9A4A"/>
    <a:srgbClr val="EE3D41"/>
    <a:srgbClr val="6BA2B9"/>
    <a:srgbClr val="414042"/>
    <a:srgbClr val="005484"/>
    <a:srgbClr val="E17C38"/>
    <a:srgbClr val="EFC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91" autoAdjust="0"/>
    <p:restoredTop sz="87102" autoAdjust="0"/>
  </p:normalViewPr>
  <p:slideViewPr>
    <p:cSldViewPr>
      <p:cViewPr varScale="1">
        <p:scale>
          <a:sx n="48" d="100"/>
          <a:sy n="48" d="100"/>
        </p:scale>
        <p:origin x="514" y="3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36716F58-DEB6-4AE6-8AB0-0E2090555A59}" type="datetimeFigureOut">
              <a:rPr lang="en-US" smtClean="0"/>
              <a:pPr/>
              <a:t>8/29/2016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FE8FB2-3FF2-464B-BF75-5B25760D77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E8FB2-3FF2-464B-BF75-5B25760D778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16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914400"/>
            <a:ext cx="9649486" cy="609600"/>
          </a:xfrm>
        </p:spPr>
        <p:txBody>
          <a:bodyPr>
            <a:noAutofit/>
          </a:bodyPr>
          <a:lstStyle>
            <a:lvl1pPr algn="l">
              <a:defRPr sz="43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 dirty="0" smtClean="0"/>
              <a:t>Enter Title Text Here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11015" y="5791200"/>
            <a:ext cx="2640912" cy="304800"/>
          </a:xfrm>
        </p:spPr>
        <p:txBody>
          <a:bodyPr/>
          <a:lstStyle>
            <a:lvl1pPr>
              <a:buNone/>
              <a:defRPr>
                <a:solidFill>
                  <a:srgbClr val="6BA2B9"/>
                </a:solidFill>
                <a:latin typeface="+mn-lt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11015" y="6197600"/>
            <a:ext cx="2640912" cy="304800"/>
          </a:xfrm>
        </p:spPr>
        <p:txBody>
          <a:bodyPr/>
          <a:lstStyle>
            <a:lvl1pPr>
              <a:buNone/>
              <a:defRPr sz="1600" b="0">
                <a:solidFill>
                  <a:srgbClr val="766661"/>
                </a:solidFill>
                <a:latin typeface="HelveticaNeueLT Std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TSX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09441" y="1524000"/>
            <a:ext cx="9649486" cy="508000"/>
          </a:xfrm>
        </p:spPr>
        <p:txBody>
          <a:bodyPr>
            <a:noAutofit/>
          </a:bodyPr>
          <a:lstStyle>
            <a:lvl1pPr>
              <a:buNone/>
              <a:defRPr sz="3200" b="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5pPr>
              <a:buNone/>
              <a:defRPr/>
            </a:lvl5pPr>
          </a:lstStyle>
          <a:p>
            <a:pPr lvl="0"/>
            <a:r>
              <a:rPr lang="en-US" dirty="0" smtClean="0"/>
              <a:t>Enter sub text here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212" y="5943600"/>
            <a:ext cx="1883168" cy="4707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ntagon 12"/>
          <p:cNvSpPr/>
          <p:nvPr userDrawn="1"/>
        </p:nvSpPr>
        <p:spPr>
          <a:xfrm>
            <a:off x="0" y="228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441" y="177801"/>
            <a:ext cx="9547913" cy="1016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612" y="457200"/>
            <a:ext cx="1578368" cy="394592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6172200"/>
            <a:ext cx="12188825" cy="304800"/>
          </a:xfrm>
          <a:prstGeom prst="rect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E3D41"/>
              </a:solidFill>
              <a:latin typeface="Museo 300" pitchFamily="50" charset="0"/>
            </a:endParaRP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1" y="6172200"/>
            <a:ext cx="11071516" cy="304800"/>
          </a:xfrm>
        </p:spPr>
        <p:txBody>
          <a:bodyPr anchor="ctr" anchorCtr="1">
            <a:noAutofit/>
          </a:bodyPr>
          <a:lstStyle>
            <a:lvl1pPr algn="ctr">
              <a:buNone/>
              <a:defRPr sz="1600" b="0" baseline="0">
                <a:solidFill>
                  <a:schemeClr val="bg1"/>
                </a:solidFill>
                <a:latin typeface="+mn-lt"/>
              </a:defRPr>
            </a:lvl1pPr>
            <a:lvl5pPr algn="ctr">
              <a:buNone/>
              <a:defRPr sz="1300">
                <a:solidFill>
                  <a:schemeClr val="bg1">
                    <a:lumMod val="95000"/>
                  </a:schemeClr>
                </a:solidFill>
                <a:latin typeface="Museo Slab 700" pitchFamily="50" charset="0"/>
              </a:defRPr>
            </a:lvl5pPr>
          </a:lstStyle>
          <a:p>
            <a:pPr lvl="0"/>
            <a:r>
              <a:rPr lang="en-US" dirty="0" smtClean="0"/>
              <a:t>Click to edit red bar content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1580812" y="6553200"/>
            <a:ext cx="457200" cy="3048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6BA2B9"/>
              </a:buClr>
              <a:buSzPct val="100000"/>
              <a:buFont typeface="Arial" pitchFamily="34" charset="0"/>
              <a:buNone/>
              <a:tabLst/>
            </a:pPr>
            <a:endParaRPr kumimoji="0" 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6BA2B9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441" y="6477000"/>
            <a:ext cx="10766795" cy="38100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800">
                <a:solidFill>
                  <a:srgbClr val="41404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371600"/>
            <a:ext cx="11329988" cy="4572000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Insert text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172200"/>
            <a:ext cx="12188825" cy="304800"/>
          </a:xfrm>
          <a:prstGeom prst="rect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E3D41"/>
              </a:solidFill>
              <a:latin typeface="Museo 300" pitchFamily="50" charset="0"/>
            </a:endParaRPr>
          </a:p>
        </p:txBody>
      </p:sp>
      <p:sp>
        <p:nvSpPr>
          <p:cNvPr id="11" name="Pentagon 10"/>
          <p:cNvSpPr/>
          <p:nvPr userDrawn="1"/>
        </p:nvSpPr>
        <p:spPr>
          <a:xfrm>
            <a:off x="0" y="228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441" y="6477000"/>
            <a:ext cx="10766795" cy="381001"/>
          </a:xfrm>
        </p:spPr>
        <p:txBody>
          <a:bodyPr numCol="2"/>
          <a:lstStyle/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612" y="457200"/>
            <a:ext cx="1578368" cy="394592"/>
          </a:xfrm>
          <a:prstGeom prst="rect">
            <a:avLst/>
          </a:prstGeom>
        </p:spPr>
      </p:pic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441" y="6172200"/>
            <a:ext cx="11071516" cy="304800"/>
          </a:xfrm>
        </p:spPr>
        <p:txBody>
          <a:bodyPr anchor="ctr" anchorCtr="1">
            <a:noAutofit/>
          </a:bodyPr>
          <a:lstStyle>
            <a:lvl1pPr algn="ctr">
              <a:buNone/>
              <a:defRPr sz="1600" b="0" baseline="0">
                <a:solidFill>
                  <a:schemeClr val="bg1"/>
                </a:solidFill>
                <a:latin typeface="+mn-lt"/>
              </a:defRPr>
            </a:lvl1pPr>
            <a:lvl5pPr algn="ctr">
              <a:buNone/>
              <a:defRPr sz="1300">
                <a:solidFill>
                  <a:schemeClr val="bg1">
                    <a:lumMod val="95000"/>
                  </a:schemeClr>
                </a:solidFill>
                <a:latin typeface="Museo Slab 700" pitchFamily="50" charset="0"/>
              </a:defRPr>
            </a:lvl5pPr>
          </a:lstStyle>
          <a:p>
            <a:pPr lvl="0"/>
            <a:r>
              <a:rPr lang="en-US" dirty="0" smtClean="0"/>
              <a:t>Click to edit red bar content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76200"/>
            <a:ext cx="9649486" cy="11430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 smtClean="0"/>
              <a:t>Pembina: a unique investment opportunity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10969943" cy="4525963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441" y="6477000"/>
            <a:ext cx="10766795" cy="38100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800">
                <a:solidFill>
                  <a:srgbClr val="41404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7810" y="6492876"/>
            <a:ext cx="507868" cy="365125"/>
          </a:xfrm>
          <a:prstGeom prst="rect">
            <a:avLst/>
          </a:prstGeom>
          <a:noFill/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6BA2B9"/>
                </a:solidFill>
              </a:defRPr>
            </a:lvl1pPr>
          </a:lstStyle>
          <a:p>
            <a:fld id="{5DEF8E5A-9DFC-4D17-9164-7781167AA2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0" r:id="rId3"/>
  </p:sldLayoutIdLst>
  <p:hf hdr="0" ftr="0" dt="0"/>
  <p:txStyles>
    <p:titleStyle>
      <a:lvl1pPr algn="l" defTabSz="1218987" rtl="0" eaLnBrk="1" latinLnBrk="0" hangingPunct="1">
        <a:spcBef>
          <a:spcPct val="0"/>
        </a:spcBef>
        <a:buNone/>
        <a:defRPr sz="2900" kern="1200">
          <a:solidFill>
            <a:srgbClr val="6BA2B9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rgbClr val="6BA2B9"/>
        </a:buClr>
        <a:buSzPct val="100000"/>
        <a:buFont typeface="Arial" pitchFamily="34" charset="0"/>
        <a:buChar char="•"/>
        <a:defRPr sz="1900" b="1" kern="1200">
          <a:solidFill>
            <a:srgbClr val="414042"/>
          </a:solidFill>
          <a:latin typeface="+mn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Clr>
          <a:srgbClr val="EE3D41"/>
        </a:buClr>
        <a:buFont typeface="Arial" pitchFamily="34" charset="0"/>
        <a:buChar char="›"/>
        <a:defRPr sz="1900" kern="1200">
          <a:solidFill>
            <a:srgbClr val="414042"/>
          </a:solidFill>
          <a:latin typeface="+mn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Clr>
          <a:srgbClr val="EE3D41"/>
        </a:buClr>
        <a:buFont typeface="Arial" pitchFamily="34" charset="0"/>
        <a:buNone/>
        <a:defRPr sz="1600" kern="1200">
          <a:solidFill>
            <a:srgbClr val="414042"/>
          </a:solidFill>
          <a:latin typeface="+mn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414042"/>
          </a:solidFill>
          <a:latin typeface="+mn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414042"/>
          </a:solidFill>
          <a:latin typeface="+mn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r="84"/>
          <a:stretch>
            <a:fillRect/>
          </a:stretch>
        </p:blipFill>
        <p:spPr>
          <a:xfrm>
            <a:off x="2" y="-76200"/>
            <a:ext cx="12188823" cy="55959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76200"/>
            <a:ext cx="12188825" cy="2895600"/>
          </a:xfrm>
          <a:prstGeom prst="rect">
            <a:avLst/>
          </a:prstGeom>
          <a:solidFill>
            <a:schemeClr val="tx1">
              <a:lumMod val="85000"/>
              <a:lumOff val="1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Dot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" y="-76199"/>
            <a:ext cx="12188825" cy="2895599"/>
          </a:xfrm>
          <a:prstGeom prst="rect">
            <a:avLst/>
          </a:prstGeom>
        </p:spPr>
      </p:pic>
      <p:sp>
        <p:nvSpPr>
          <p:cNvPr id="13" name="Pentagon 12"/>
          <p:cNvSpPr/>
          <p:nvPr/>
        </p:nvSpPr>
        <p:spPr>
          <a:xfrm>
            <a:off x="0" y="990600"/>
            <a:ext cx="379412" cy="914400"/>
          </a:xfrm>
          <a:prstGeom prst="homePlate">
            <a:avLst/>
          </a:prstGeom>
          <a:solidFill>
            <a:srgbClr val="EE3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914400"/>
            <a:ext cx="9649486" cy="609600"/>
          </a:xfrm>
        </p:spPr>
        <p:txBody>
          <a:bodyPr/>
          <a:lstStyle/>
          <a:p>
            <a:r>
              <a:rPr lang="en-US" dirty="0" smtClean="0">
                <a:latin typeface="+mj-lt"/>
                <a:cs typeface="Gisha" pitchFamily="34" charset="-79"/>
              </a:rPr>
              <a:t>Pembina Pipeline Corporation</a:t>
            </a:r>
            <a:endParaRPr lang="en-US" dirty="0">
              <a:latin typeface="+mj-lt"/>
              <a:cs typeface="Gisha" pitchFamily="34" charset="-79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11014" y="5791200"/>
            <a:ext cx="5916798" cy="304800"/>
          </a:xfrm>
        </p:spPr>
        <p:txBody>
          <a:bodyPr>
            <a:noAutofit/>
          </a:bodyPr>
          <a:lstStyle/>
          <a:p>
            <a:r>
              <a:rPr lang="en-US" sz="1600" dirty="0" smtClean="0"/>
              <a:t>August 4, 2016</a:t>
            </a:r>
            <a:endParaRPr lang="en-US" sz="1600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11014" y="6197600"/>
            <a:ext cx="6526397" cy="312736"/>
          </a:xfrm>
        </p:spPr>
        <p:txBody>
          <a:bodyPr>
            <a:noAutofit/>
          </a:bodyPr>
          <a:lstStyle/>
          <a:p>
            <a:r>
              <a:rPr lang="en-US" dirty="0" smtClean="0"/>
              <a:t>Major Projects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09440" y="1524000"/>
            <a:ext cx="11276171" cy="609600"/>
          </a:xfrm>
        </p:spPr>
        <p:txBody>
          <a:bodyPr/>
          <a:lstStyle/>
          <a:p>
            <a:r>
              <a:rPr lang="en-US" dirty="0" smtClean="0"/>
              <a:t>PIPELINE CONSTRUCTION AGREEMENT  (PCA)</a:t>
            </a:r>
          </a:p>
          <a:p>
            <a:r>
              <a:rPr lang="en-US" dirty="0" smtClean="0">
                <a:latin typeface="+mj-lt"/>
              </a:rPr>
              <a:t>CHANGE AND RFI PROCESS FLOW SUMMARY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184707"/>
            <a:ext cx="9904571" cy="1016000"/>
          </a:xfrm>
        </p:spPr>
        <p:txBody>
          <a:bodyPr/>
          <a:lstStyle/>
          <a:p>
            <a:r>
              <a:rPr lang="en-US" dirty="0" smtClean="0"/>
              <a:t>1.0 Change Order Flow Chart – Company Initiated Change</a:t>
            </a:r>
            <a:br>
              <a:rPr lang="en-US" dirty="0" smtClean="0"/>
            </a:br>
            <a:r>
              <a:rPr lang="en-US" dirty="0" err="1" smtClean="0"/>
              <a:t>Change</a:t>
            </a:r>
            <a:r>
              <a:rPr lang="en-US" dirty="0" smtClean="0"/>
              <a:t> Request (CR)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lowchart: Decision 6"/>
          <p:cNvSpPr/>
          <p:nvPr/>
        </p:nvSpPr>
        <p:spPr>
          <a:xfrm>
            <a:off x="3203970" y="2138348"/>
            <a:ext cx="2754704" cy="95658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</a:t>
            </a:r>
            <a:r>
              <a:rPr lang="en-US" sz="1050" dirty="0" smtClean="0"/>
              <a:t>requires immediate compliance with Change?</a:t>
            </a:r>
            <a:endParaRPr lang="en-US" sz="105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656012" y="1295400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COMPANY initiates Change Request  </a:t>
            </a:r>
            <a:r>
              <a:rPr lang="en-US" sz="1050" dirty="0" smtClean="0">
                <a:solidFill>
                  <a:schemeClr val="bg1"/>
                </a:solidFill>
              </a:rPr>
              <a:t>(Art.10.4)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Placeholder 13"/>
          <p:cNvSpPr txBox="1">
            <a:spLocks/>
          </p:cNvSpPr>
          <p:nvPr/>
        </p:nvSpPr>
        <p:spPr>
          <a:xfrm>
            <a:off x="9302645" y="3254651"/>
            <a:ext cx="1600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  </a:t>
            </a:r>
            <a:r>
              <a:rPr lang="en-US" sz="1050" dirty="0" smtClean="0">
                <a:solidFill>
                  <a:schemeClr val="bg1"/>
                </a:solidFill>
              </a:rPr>
              <a:t>COMPANY issues immediate CO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6415477" y="2275627"/>
            <a:ext cx="1827212" cy="677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800" b="1" dirty="0" smtClean="0">
                <a:solidFill>
                  <a:schemeClr val="bg1"/>
                </a:solidFill>
              </a:rPr>
              <a:t>NO </a:t>
            </a:r>
          </a:p>
          <a:p>
            <a:pPr algn="ctr">
              <a:spcBef>
                <a:spcPts val="0"/>
              </a:spcBef>
            </a:pPr>
            <a:r>
              <a:rPr lang="en-US" sz="1100" dirty="0" smtClean="0">
                <a:solidFill>
                  <a:schemeClr val="bg1"/>
                </a:solidFill>
              </a:rPr>
              <a:t>Negotiate </a:t>
            </a:r>
            <a:r>
              <a:rPr lang="en-US" sz="1100" dirty="0">
                <a:solidFill>
                  <a:schemeClr val="bg1"/>
                </a:solidFill>
              </a:rPr>
              <a:t>impacts as per Art. 10.3a</a:t>
            </a:r>
          </a:p>
          <a:p>
            <a:pPr algn="ctr">
              <a:spcBef>
                <a:spcPts val="0"/>
              </a:spcBef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3048853" y="5311823"/>
            <a:ext cx="3124200" cy="736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Contractor has the right to claim for additional compensation and time (Art.10.3.a)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427791" y="3814369"/>
            <a:ext cx="2372910" cy="556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COMPANY issues an immediate CO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Flowchart: Decision 19"/>
          <p:cNvSpPr/>
          <p:nvPr/>
        </p:nvSpPr>
        <p:spPr>
          <a:xfrm>
            <a:off x="6157901" y="3134686"/>
            <a:ext cx="2368860" cy="83343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Agreement Reached as per Art.10.3.a?</a:t>
            </a:r>
          </a:p>
        </p:txBody>
      </p:sp>
      <p:sp>
        <p:nvSpPr>
          <p:cNvPr id="21" name="Text Placeholder 13"/>
          <p:cNvSpPr txBox="1">
            <a:spLocks/>
          </p:cNvSpPr>
          <p:nvPr/>
        </p:nvSpPr>
        <p:spPr>
          <a:xfrm>
            <a:off x="6428725" y="4143777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  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COMPANY Issues CO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4569618" y="1905000"/>
            <a:ext cx="11704" cy="233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9" idx="0"/>
          </p:cNvCxnSpPr>
          <p:nvPr/>
        </p:nvCxnSpPr>
        <p:spPr>
          <a:xfrm>
            <a:off x="4581322" y="3094935"/>
            <a:ext cx="32924" cy="719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6" idx="1"/>
          </p:cNvCxnSpPr>
          <p:nvPr/>
        </p:nvCxnSpPr>
        <p:spPr>
          <a:xfrm flipH="1" flipV="1">
            <a:off x="6415477" y="2614494"/>
            <a:ext cx="192088" cy="13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0" idx="0"/>
          </p:cNvCxnSpPr>
          <p:nvPr/>
        </p:nvCxnSpPr>
        <p:spPr>
          <a:xfrm>
            <a:off x="7329083" y="2953361"/>
            <a:ext cx="13248" cy="18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3"/>
            <a:endCxn id="15" idx="1"/>
          </p:cNvCxnSpPr>
          <p:nvPr/>
        </p:nvCxnSpPr>
        <p:spPr>
          <a:xfrm>
            <a:off x="8526761" y="3551405"/>
            <a:ext cx="775884" cy="8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2"/>
            <a:endCxn id="21" idx="0"/>
          </p:cNvCxnSpPr>
          <p:nvPr/>
        </p:nvCxnSpPr>
        <p:spPr>
          <a:xfrm>
            <a:off x="7342331" y="3968123"/>
            <a:ext cx="0" cy="17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 flipH="1">
            <a:off x="4610953" y="4371122"/>
            <a:ext cx="3293" cy="940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16" idx="1"/>
          </p:cNvCxnSpPr>
          <p:nvPr/>
        </p:nvCxnSpPr>
        <p:spPr>
          <a:xfrm flipV="1">
            <a:off x="5958674" y="2614494"/>
            <a:ext cx="456803" cy="2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Placeholder 81"/>
          <p:cNvSpPr>
            <a:spLocks noGrp="1"/>
          </p:cNvSpPr>
          <p:nvPr>
            <p:ph type="body" sz="quarter" idx="14"/>
          </p:nvPr>
        </p:nvSpPr>
        <p:spPr>
          <a:xfrm>
            <a:off x="-787533" y="6155190"/>
            <a:ext cx="11071516" cy="3048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40" name="Elbow Connector 39"/>
          <p:cNvCxnSpPr>
            <a:stCxn id="15" idx="2"/>
          </p:cNvCxnSpPr>
          <p:nvPr/>
        </p:nvCxnSpPr>
        <p:spPr>
          <a:xfrm rot="5400000">
            <a:off x="7087833" y="2964623"/>
            <a:ext cx="2115285" cy="39145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13"/>
          <p:cNvSpPr txBox="1">
            <a:spLocks/>
          </p:cNvSpPr>
          <p:nvPr/>
        </p:nvSpPr>
        <p:spPr>
          <a:xfrm>
            <a:off x="6428725" y="4932483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/>
          <p:cNvCxnSpPr>
            <a:stCxn id="21" idx="2"/>
            <a:endCxn id="47" idx="0"/>
          </p:cNvCxnSpPr>
          <p:nvPr/>
        </p:nvCxnSpPr>
        <p:spPr>
          <a:xfrm>
            <a:off x="7342331" y="4753377"/>
            <a:ext cx="0" cy="179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1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177801"/>
            <a:ext cx="9982199" cy="1016000"/>
          </a:xfrm>
        </p:spPr>
        <p:txBody>
          <a:bodyPr/>
          <a:lstStyle/>
          <a:p>
            <a:r>
              <a:rPr lang="en-US" dirty="0" smtClean="0"/>
              <a:t>2.0 Change Order Flow Chart – Contractor Initiated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lowchart: Decision 6"/>
          <p:cNvSpPr/>
          <p:nvPr/>
        </p:nvSpPr>
        <p:spPr>
          <a:xfrm>
            <a:off x="1000779" y="2310798"/>
            <a:ext cx="1847850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approves request?</a:t>
            </a:r>
            <a:endParaRPr lang="en-US" sz="11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989012" y="1193801"/>
            <a:ext cx="1827212" cy="689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CONTRACTOR initiates Change Request (CR) </a:t>
            </a:r>
            <a:r>
              <a:rPr lang="en-US" sz="1050" dirty="0" smtClean="0">
                <a:solidFill>
                  <a:schemeClr val="bg1"/>
                </a:solidFill>
              </a:rPr>
              <a:t>(Art.10.2 &amp; 10.4)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914400" y="522009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914400" y="3711974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YES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COMPANY Issues CO  (Art.10.5)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Flowchart: Decision 19"/>
          <p:cNvSpPr/>
          <p:nvPr/>
        </p:nvSpPr>
        <p:spPr>
          <a:xfrm>
            <a:off x="4141664" y="3228371"/>
            <a:ext cx="1922709" cy="112156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Agreement Reached as per Art.10.3.a?</a:t>
            </a:r>
            <a:endParaRPr lang="en-US" sz="1200" dirty="0"/>
          </a:p>
        </p:txBody>
      </p:sp>
      <p:sp>
        <p:nvSpPr>
          <p:cNvPr id="21" name="Text Placeholder 13"/>
          <p:cNvSpPr txBox="1">
            <a:spLocks/>
          </p:cNvSpPr>
          <p:nvPr/>
        </p:nvSpPr>
        <p:spPr>
          <a:xfrm>
            <a:off x="3910774" y="4625078"/>
            <a:ext cx="238448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 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COMPANY Issues CO  (Art.10.5)</a:t>
            </a: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1902618" y="1883174"/>
            <a:ext cx="22086" cy="427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</p:cNvCxnSpPr>
          <p:nvPr/>
        </p:nvCxnSpPr>
        <p:spPr>
          <a:xfrm>
            <a:off x="1924704" y="3228371"/>
            <a:ext cx="0" cy="48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3"/>
          </p:cNvCxnSpPr>
          <p:nvPr/>
        </p:nvCxnSpPr>
        <p:spPr>
          <a:xfrm>
            <a:off x="2848629" y="2769585"/>
            <a:ext cx="1340783" cy="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0" idx="0"/>
          </p:cNvCxnSpPr>
          <p:nvPr/>
        </p:nvCxnSpPr>
        <p:spPr>
          <a:xfrm>
            <a:off x="5103018" y="2974581"/>
            <a:ext cx="1" cy="253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0" idx="3"/>
            <a:endCxn id="24" idx="1"/>
          </p:cNvCxnSpPr>
          <p:nvPr/>
        </p:nvCxnSpPr>
        <p:spPr>
          <a:xfrm>
            <a:off x="6064373" y="3789156"/>
            <a:ext cx="2379788" cy="22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2"/>
            <a:endCxn id="21" idx="0"/>
          </p:cNvCxnSpPr>
          <p:nvPr/>
        </p:nvCxnSpPr>
        <p:spPr>
          <a:xfrm flipH="1">
            <a:off x="5103018" y="4349940"/>
            <a:ext cx="1" cy="27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>
            <a:off x="1828006" y="4321574"/>
            <a:ext cx="0" cy="898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21" idx="2"/>
            <a:endCxn id="17" idx="3"/>
          </p:cNvCxnSpPr>
          <p:nvPr/>
        </p:nvCxnSpPr>
        <p:spPr>
          <a:xfrm rot="5400000">
            <a:off x="3777205" y="4199085"/>
            <a:ext cx="290220" cy="23614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3"/>
          <p:cNvSpPr txBox="1">
            <a:spLocks/>
          </p:cNvSpPr>
          <p:nvPr/>
        </p:nvSpPr>
        <p:spPr>
          <a:xfrm>
            <a:off x="4189412" y="2449967"/>
            <a:ext cx="1752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1100" dirty="0">
                <a:solidFill>
                  <a:schemeClr val="bg1"/>
                </a:solidFill>
              </a:rPr>
              <a:t>Negotiate impacts as per Art. 10.3a</a:t>
            </a:r>
          </a:p>
        </p:txBody>
      </p:sp>
      <p:sp>
        <p:nvSpPr>
          <p:cNvPr id="24" name="Flowchart: Decision 23"/>
          <p:cNvSpPr/>
          <p:nvPr/>
        </p:nvSpPr>
        <p:spPr>
          <a:xfrm>
            <a:off x="8444161" y="3351314"/>
            <a:ext cx="1411204" cy="92093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NO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endParaRPr lang="en-US" sz="1050" dirty="0"/>
          </a:p>
        </p:txBody>
      </p:sp>
      <p:sp>
        <p:nvSpPr>
          <p:cNvPr id="26" name="Text Placeholder 13"/>
          <p:cNvSpPr txBox="1">
            <a:spLocks/>
          </p:cNvSpPr>
          <p:nvPr/>
        </p:nvSpPr>
        <p:spPr>
          <a:xfrm>
            <a:off x="7472262" y="4860549"/>
            <a:ext cx="3355003" cy="842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YES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CONTRACTOR Proceeds with Work</a:t>
            </a: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Contractor has the right to claim for additional compensation and time (Art.10.3.a)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>
            <a:stCxn id="24" idx="2"/>
            <a:endCxn id="26" idx="0"/>
          </p:cNvCxnSpPr>
          <p:nvPr/>
        </p:nvCxnSpPr>
        <p:spPr>
          <a:xfrm>
            <a:off x="9149763" y="4272253"/>
            <a:ext cx="1" cy="58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54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/>
          <p:cNvCxnSpPr>
            <a:stCxn id="7" idx="2"/>
            <a:endCxn id="17" idx="0"/>
          </p:cNvCxnSpPr>
          <p:nvPr/>
        </p:nvCxnSpPr>
        <p:spPr>
          <a:xfrm>
            <a:off x="4279834" y="3232072"/>
            <a:ext cx="2340" cy="2093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3.0  Contractor RFI Process Flow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lowchart: Decision 6"/>
          <p:cNvSpPr/>
          <p:nvPr/>
        </p:nvSpPr>
        <p:spPr>
          <a:xfrm>
            <a:off x="3355909" y="2314499"/>
            <a:ext cx="1847850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RFI Approved?</a:t>
            </a:r>
            <a:endParaRPr lang="en-US" sz="110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351212" y="1220510"/>
            <a:ext cx="1827212" cy="689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CONTRACTOR makes a Request For Information  RFI  </a:t>
            </a:r>
            <a:r>
              <a:rPr lang="en-US" sz="1100" dirty="0" smtClean="0">
                <a:solidFill>
                  <a:schemeClr val="bg1"/>
                </a:solidFill>
              </a:rPr>
              <a:t>(Art.10.1)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6475412" y="247297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NO</a:t>
            </a:r>
            <a:r>
              <a:rPr lang="en-US" sz="1000" dirty="0" smtClean="0">
                <a:solidFill>
                  <a:schemeClr val="bg1"/>
                </a:solidFill>
              </a:rPr>
              <a:t> …No </a:t>
            </a:r>
            <a:r>
              <a:rPr lang="en-US" sz="1000" dirty="0">
                <a:solidFill>
                  <a:schemeClr val="bg1"/>
                </a:solidFill>
              </a:rPr>
              <a:t>change to contract</a:t>
            </a: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3368568" y="5325787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YES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r>
              <a:rPr lang="en-US" sz="1100" dirty="0" smtClean="0">
                <a:solidFill>
                  <a:schemeClr val="bg1"/>
                </a:solidFill>
              </a:rPr>
              <a:t>See CR Slide 2.0  (Art.10.1)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351981" y="3451164"/>
            <a:ext cx="1827212" cy="457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 smtClean="0">
                <a:solidFill>
                  <a:schemeClr val="bg1"/>
                </a:solidFill>
              </a:rPr>
              <a:t>YES</a:t>
            </a:r>
            <a:endParaRPr lang="en-US" sz="105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>
            <a:off x="4264818" y="1909883"/>
            <a:ext cx="15016" cy="40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3"/>
            <a:endCxn id="16" idx="1"/>
          </p:cNvCxnSpPr>
          <p:nvPr/>
        </p:nvCxnSpPr>
        <p:spPr>
          <a:xfrm>
            <a:off x="5203759" y="2773286"/>
            <a:ext cx="1271653" cy="4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4" idx="3"/>
            <a:endCxn id="36" idx="1"/>
          </p:cNvCxnSpPr>
          <p:nvPr/>
        </p:nvCxnSpPr>
        <p:spPr>
          <a:xfrm flipV="1">
            <a:off x="5435877" y="4588222"/>
            <a:ext cx="1039535" cy="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Decision 33"/>
          <p:cNvSpPr/>
          <p:nvPr/>
        </p:nvSpPr>
        <p:spPr>
          <a:xfrm>
            <a:off x="3123790" y="4135058"/>
            <a:ext cx="2312087" cy="9175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RFI Impact Scope, Price or Time?</a:t>
            </a:r>
            <a:endParaRPr lang="en-US" sz="1100" dirty="0"/>
          </a:p>
        </p:txBody>
      </p:sp>
      <p:sp>
        <p:nvSpPr>
          <p:cNvPr id="36" name="Text Placeholder 13"/>
          <p:cNvSpPr txBox="1">
            <a:spLocks/>
          </p:cNvSpPr>
          <p:nvPr/>
        </p:nvSpPr>
        <p:spPr>
          <a:xfrm>
            <a:off x="6475412" y="4283422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bg1"/>
                </a:solidFill>
              </a:rPr>
              <a:t>NO</a:t>
            </a:r>
            <a:r>
              <a:rPr lang="en-US" sz="1000" dirty="0" smtClean="0">
                <a:solidFill>
                  <a:schemeClr val="bg1"/>
                </a:solidFill>
              </a:rPr>
              <a:t> …No </a:t>
            </a:r>
            <a:r>
              <a:rPr lang="en-US" sz="1000" dirty="0">
                <a:solidFill>
                  <a:schemeClr val="bg1"/>
                </a:solidFill>
              </a:rPr>
              <a:t>change to contract</a:t>
            </a:r>
          </a:p>
        </p:txBody>
      </p:sp>
    </p:spTree>
    <p:extLst>
      <p:ext uri="{BB962C8B-B14F-4D97-AF65-F5344CB8AC3E}">
        <p14:creationId xmlns:p14="http://schemas.microsoft.com/office/powerpoint/2010/main" val="284485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2" y="215772"/>
            <a:ext cx="9904571" cy="1016000"/>
          </a:xfrm>
        </p:spPr>
        <p:txBody>
          <a:bodyPr/>
          <a:lstStyle/>
          <a:p>
            <a:r>
              <a:rPr lang="en-US" dirty="0" smtClean="0"/>
              <a:t>4.0 Change Order Flow Chart – Company Initiated Change</a:t>
            </a:r>
            <a:br>
              <a:rPr lang="en-US" dirty="0" smtClean="0"/>
            </a:br>
            <a:r>
              <a:rPr lang="en-US" dirty="0" err="1" smtClean="0"/>
              <a:t>Change</a:t>
            </a:r>
            <a:r>
              <a:rPr lang="en-US" dirty="0" smtClean="0"/>
              <a:t> Order (CO)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EF8E5A-9DFC-4D17-9164-7781167AA2B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60228" y="6156324"/>
            <a:ext cx="11071516" cy="304800"/>
          </a:xfrm>
        </p:spPr>
        <p:txBody>
          <a:bodyPr/>
          <a:lstStyle/>
          <a:p>
            <a:endParaRPr lang="en-US" sz="1000" b="1" dirty="0"/>
          </a:p>
        </p:txBody>
      </p:sp>
      <p:sp>
        <p:nvSpPr>
          <p:cNvPr id="7" name="Flowchart: Decision 6"/>
          <p:cNvSpPr/>
          <p:nvPr/>
        </p:nvSpPr>
        <p:spPr>
          <a:xfrm>
            <a:off x="3426618" y="2532329"/>
            <a:ext cx="2743200" cy="111640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COMPANY </a:t>
            </a:r>
            <a:r>
              <a:rPr lang="en-US" sz="1050" dirty="0" smtClean="0"/>
              <a:t>requires immediate compliance with Change?</a:t>
            </a:r>
            <a:endParaRPr lang="en-US" sz="105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732212" y="1524000"/>
            <a:ext cx="2133599" cy="65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COMPANY initiates Change Order  </a:t>
            </a:r>
            <a:r>
              <a:rPr lang="en-US" sz="1050" dirty="0" smtClean="0">
                <a:solidFill>
                  <a:schemeClr val="bg1"/>
                </a:solidFill>
              </a:rPr>
              <a:t>(Art.10.3)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Text Placeholder 13"/>
          <p:cNvSpPr txBox="1">
            <a:spLocks/>
          </p:cNvSpPr>
          <p:nvPr/>
        </p:nvSpPr>
        <p:spPr>
          <a:xfrm>
            <a:off x="7618412" y="2779648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NO</a:t>
            </a:r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1100" dirty="0" smtClean="0">
                <a:solidFill>
                  <a:schemeClr val="bg1"/>
                </a:solidFill>
              </a:rPr>
              <a:t>Negotiate impacts as per Art. 10.3a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Placeholder 13"/>
          <p:cNvSpPr txBox="1">
            <a:spLocks/>
          </p:cNvSpPr>
          <p:nvPr/>
        </p:nvSpPr>
        <p:spPr>
          <a:xfrm>
            <a:off x="3248416" y="5197179"/>
            <a:ext cx="3124199" cy="812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  <a:p>
            <a:pPr algn="ctr"/>
            <a:r>
              <a:rPr lang="en-US" sz="1050" dirty="0" smtClean="0">
                <a:solidFill>
                  <a:schemeClr val="bg1"/>
                </a:solidFill>
              </a:rPr>
              <a:t>Contractor has the right to claim for additional compensation and time (Art.10.3.a)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Text Placeholder 13"/>
          <p:cNvSpPr txBox="1">
            <a:spLocks/>
          </p:cNvSpPr>
          <p:nvPr/>
        </p:nvSpPr>
        <p:spPr>
          <a:xfrm>
            <a:off x="3896910" y="4087381"/>
            <a:ext cx="18272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YES</a:t>
            </a:r>
          </a:p>
        </p:txBody>
      </p:sp>
      <p:cxnSp>
        <p:nvCxnSpPr>
          <p:cNvPr id="11" name="Straight Arrow Connector 10"/>
          <p:cNvCxnSpPr>
            <a:stCxn id="14" idx="2"/>
            <a:endCxn id="7" idx="0"/>
          </p:cNvCxnSpPr>
          <p:nvPr/>
        </p:nvCxnSpPr>
        <p:spPr>
          <a:xfrm flipH="1">
            <a:off x="4798218" y="2174801"/>
            <a:ext cx="794" cy="357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9" idx="0"/>
          </p:cNvCxnSpPr>
          <p:nvPr/>
        </p:nvCxnSpPr>
        <p:spPr>
          <a:xfrm>
            <a:off x="4798218" y="3648738"/>
            <a:ext cx="12298" cy="438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6" idx="1"/>
          </p:cNvCxnSpPr>
          <p:nvPr/>
        </p:nvCxnSpPr>
        <p:spPr>
          <a:xfrm flipH="1" flipV="1">
            <a:off x="7618412" y="3084448"/>
            <a:ext cx="192088" cy="103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8" idx="0"/>
          </p:cNvCxnSpPr>
          <p:nvPr/>
        </p:nvCxnSpPr>
        <p:spPr>
          <a:xfrm>
            <a:off x="8532018" y="3389248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2"/>
            <a:endCxn id="17" idx="0"/>
          </p:cNvCxnSpPr>
          <p:nvPr/>
        </p:nvCxnSpPr>
        <p:spPr>
          <a:xfrm>
            <a:off x="4810516" y="4696981"/>
            <a:ext cx="0" cy="500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3"/>
          <p:cNvSpPr txBox="1">
            <a:spLocks/>
          </p:cNvSpPr>
          <p:nvPr/>
        </p:nvSpPr>
        <p:spPr>
          <a:xfrm>
            <a:off x="6969918" y="3998848"/>
            <a:ext cx="3124199" cy="812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8987" rtl="0" eaLnBrk="1" latinLnBrk="0" hangingPunct="1">
              <a:spcBef>
                <a:spcPct val="20000"/>
              </a:spcBef>
              <a:buClr>
                <a:srgbClr val="6BA2B9"/>
              </a:buClr>
              <a:buSzPct val="100000"/>
              <a:buFont typeface="Arial" pitchFamily="34" charset="0"/>
              <a:buNone/>
              <a:defRPr sz="1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Char char="›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>
                <a:srgbClr val="EE3D41"/>
              </a:buClr>
              <a:buFont typeface="Arial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CONTRACTOR Proceeds with Work</a:t>
            </a:r>
          </a:p>
        </p:txBody>
      </p:sp>
      <p:cxnSp>
        <p:nvCxnSpPr>
          <p:cNvPr id="29" name="Straight Arrow Connector 28"/>
          <p:cNvCxnSpPr>
            <a:stCxn id="7" idx="3"/>
            <a:endCxn id="16" idx="1"/>
          </p:cNvCxnSpPr>
          <p:nvPr/>
        </p:nvCxnSpPr>
        <p:spPr>
          <a:xfrm flipV="1">
            <a:off x="6169818" y="3084448"/>
            <a:ext cx="1448594" cy="6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74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15-Corporate Update Power 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91440" tIns="45720" rIns="91440" bIns="45720" rtlCol="0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>
            <a:srgbClr val="6BA2B9"/>
          </a:buClr>
          <a:buSzPct val="100000"/>
          <a:buFont typeface="Arial" pitchFamily="34" charset="0"/>
          <a:buNone/>
          <a:tabLst/>
          <a:defRPr kumimoji="0" sz="1400" b="1" i="0" u="none" strike="noStrike" kern="1200" cap="none" spc="0" normalizeH="0" baseline="0" noProof="0" dirty="0" smtClean="0">
            <a:ln>
              <a:noFill/>
            </a:ln>
            <a:solidFill>
              <a:srgbClr val="414042"/>
            </a:solidFill>
            <a:effectLst/>
            <a:uLnTx/>
            <a:uFillTx/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27281</TotalTime>
  <Words>279</Words>
  <Application>Microsoft Office PowerPoint</Application>
  <PresentationFormat>Custom</PresentationFormat>
  <Paragraphs>55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Gisha</vt:lpstr>
      <vt:lpstr>HelveticaNeueLT Std</vt:lpstr>
      <vt:lpstr>Museo 300</vt:lpstr>
      <vt:lpstr>Museo Slab 700</vt:lpstr>
      <vt:lpstr>015-Corporate Update Power Point Template</vt:lpstr>
      <vt:lpstr>Pembina Pipeline Corporation</vt:lpstr>
      <vt:lpstr>1.0 Change Order Flow Chart – Company Initiated Change Change Request (CR)</vt:lpstr>
      <vt:lpstr>2.0 Change Order Flow Chart – Contractor Initiated Change</vt:lpstr>
      <vt:lpstr>3.0  Contractor RFI Process Flow Chart</vt:lpstr>
      <vt:lpstr>4.0 Change Order Flow Chart – Company Initiated Change Change Order (CO)</vt:lpstr>
    </vt:vector>
  </TitlesOfParts>
  <Company>Pembina Pipeline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Pembina Pipeline Corporation</dc:title>
  <dc:creator>akillam</dc:creator>
  <cp:lastModifiedBy>Craig Day</cp:lastModifiedBy>
  <cp:revision>235</cp:revision>
  <cp:lastPrinted>2016-08-04T18:05:17Z</cp:lastPrinted>
  <dcterms:created xsi:type="dcterms:W3CDTF">2015-04-23T21:39:20Z</dcterms:created>
  <dcterms:modified xsi:type="dcterms:W3CDTF">2016-08-29T22:04:12Z</dcterms:modified>
</cp:coreProperties>
</file>