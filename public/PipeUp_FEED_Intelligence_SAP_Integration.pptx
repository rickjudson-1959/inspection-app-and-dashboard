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60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20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FEED estimate ($M)</c:v>
                </c:pt>
              </c:strCache>
            </c:strRef>
          </c:tx>
          <c:spPr>
            <a:solidFill>
              <a:srgbClr val="1B5E8A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Mainline</c:v>
                </c:pt>
                <c:pt idx="1">
                  <c:v>HDD</c:v>
                </c:pt>
                <c:pt idx="2">
                  <c:v>Crossings</c:v>
                </c:pt>
                <c:pt idx="3">
                  <c:v>Tie-ins</c:v>
                </c:pt>
                <c:pt idx="4">
                  <c:v>Hydrotest</c:v>
                </c:pt>
                <c:pt idx="5">
                  <c:v>Mob/Demob</c:v>
                </c:pt>
                <c:pt idx="6">
                  <c:v>Enviro</c:v>
                </c:pt>
                <c:pt idx="7">
                  <c:v>PM/Insp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28.4</c:v>
                </c:pt>
                <c:pt idx="1">
                  <c:v>8.1999999999999993</c:v>
                </c:pt>
                <c:pt idx="2">
                  <c:v>4.0999999999999996</c:v>
                </c:pt>
                <c:pt idx="3">
                  <c:v>6.9</c:v>
                </c:pt>
                <c:pt idx="4">
                  <c:v>3.3</c:v>
                </c:pt>
                <c:pt idx="5">
                  <c:v>5.6</c:v>
                </c:pt>
                <c:pt idx="6">
                  <c:v>2.8</c:v>
                </c:pt>
                <c:pt idx="7">
                  <c:v>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5B-CE4F-974D-AEBC124657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($M)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Mainline</c:v>
                </c:pt>
                <c:pt idx="1">
                  <c:v>HDD</c:v>
                </c:pt>
                <c:pt idx="2">
                  <c:v>Crossings</c:v>
                </c:pt>
                <c:pt idx="3">
                  <c:v>Tie-ins</c:v>
                </c:pt>
                <c:pt idx="4">
                  <c:v>Hydrotest</c:v>
                </c:pt>
                <c:pt idx="5">
                  <c:v>Mob/Demob</c:v>
                </c:pt>
                <c:pt idx="6">
                  <c:v>Enviro</c:v>
                </c:pt>
                <c:pt idx="7">
                  <c:v>PM/Insp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29.1</c:v>
                </c:pt>
                <c:pt idx="1">
                  <c:v>10.9</c:v>
                </c:pt>
                <c:pt idx="2">
                  <c:v>3.8</c:v>
                </c:pt>
                <c:pt idx="3">
                  <c:v>7.4</c:v>
                </c:pt>
                <c:pt idx="4">
                  <c:v>3.1</c:v>
                </c:pt>
                <c:pt idx="5">
                  <c:v>7.2</c:v>
                </c:pt>
                <c:pt idx="6">
                  <c:v>3</c:v>
                </c:pt>
                <c:pt idx="7">
                  <c:v>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5B-CE4F-974D-AEBC124657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6093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9070848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 Intelligence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SAP Integration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field-verified cost data flows from the CMT dashboard into SAP ERP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Pipe-Up Inc.  |  March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Craig Day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258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field verification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192024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submits billing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controls enters it into SAP as-is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treats it as fact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field verification exists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value is calculated on unverified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discovered at month-end — too late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8348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issue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983480" y="1874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party measuring progress is the same party submitting the invoices.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983480" y="27432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tells you what was committed and what was paid.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tells you whether what was paid matches what was actually built.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82803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2960" y="4818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Pipe-Up  |  FEED 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 Intelligence in the CMT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verification layer that makes SAP data trustworthy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81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daily reports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1920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counts, equipment, progress by KP, weather — captured at point of work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3716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337560" y="137160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5087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481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 reconciliation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20440" y="1920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billing matched line-by-line against inspector-verified field data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3716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126480" y="137160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5087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1481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WBS-tagged actuals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09360" y="1920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reconciled cost tagged to FEED estimate WBS elements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0632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48640" y="306324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2004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172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31520" y="3611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financial change logged — user, timestamp, reason. No behind-the-scenes edits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337560" y="30632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337560" y="306324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320040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86200" y="3172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+ closeouts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520440" y="3611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risks tracked through construction with actual cost impact data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26480" y="30632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126480" y="306324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2004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75120" y="3172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vs actuals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309360" y="3611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variance by WBS category with normalized $/m benchmarks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828032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22960" y="4818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Pipe-Up  |  FEED 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flow: Pipe-Up → SAP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46888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Pipe-Up (field layer)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37560" y="1051560"/>
            <a:ext cx="2468880" cy="411480"/>
          </a:xfrm>
          <a:prstGeom prst="rect">
            <a:avLst/>
          </a:prstGeom>
          <a:solidFill>
            <a:srgbClr val="1B5E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37560" y="1051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051560"/>
            <a:ext cx="246888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09360" y="1051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ERP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2468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lem_line_items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1865376"/>
            <a:ext cx="5029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37560" y="1645920"/>
            <a:ext cx="2468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16459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transform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06440" y="1865376"/>
            <a:ext cx="502920" cy="0"/>
          </a:xfrm>
          <a:prstGeom prst="line">
            <a:avLst/>
          </a:prstGeom>
          <a:noFill/>
          <a:ln w="1905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09360" y="1645920"/>
            <a:ext cx="2468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16459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— Cost postings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176272"/>
            <a:ext cx="246888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1762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feed_wbs_actuals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2395728"/>
            <a:ext cx="5029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37560" y="2176272"/>
            <a:ext cx="246888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29000" y="21762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element mapping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06440" y="2395728"/>
            <a:ext cx="502920" cy="0"/>
          </a:xfrm>
          <a:prstGeom prst="line">
            <a:avLst/>
          </a:prstGeom>
          <a:noFill/>
          <a:ln w="1905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09360" y="2176272"/>
            <a:ext cx="246888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21762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— WBS actuals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706624"/>
            <a:ext cx="2468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27066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contractor_lem_uploads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34640" y="2926080"/>
            <a:ext cx="5029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337560" y="2706624"/>
            <a:ext cx="2468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29000" y="27066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packaging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06440" y="2926080"/>
            <a:ext cx="502920" cy="0"/>
          </a:xfrm>
          <a:prstGeom prst="line">
            <a:avLst/>
          </a:prstGeom>
          <a:noFill/>
          <a:ln w="1905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09360" y="2706624"/>
            <a:ext cx="2468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0" y="27066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— Accounts payable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236976"/>
            <a:ext cx="246888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32369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+ progress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834640" y="3456432"/>
            <a:ext cx="5029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337560" y="3236976"/>
            <a:ext cx="246888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29000" y="32369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calculation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06440" y="3456432"/>
            <a:ext cx="502920" cy="0"/>
          </a:xfrm>
          <a:prstGeom prst="line">
            <a:avLst/>
          </a:prstGeom>
          <a:noFill/>
          <a:ln w="1905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09360" y="3236976"/>
            <a:ext cx="246888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00800" y="32369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— Earned value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3767328"/>
            <a:ext cx="2468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37673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feed_risks (closeouts)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834640" y="3986784"/>
            <a:ext cx="5029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337560" y="3767328"/>
            <a:ext cx="2468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429000" y="37673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mapping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806440" y="3986784"/>
            <a:ext cx="502920" cy="0"/>
          </a:xfrm>
          <a:prstGeom prst="line">
            <a:avLst/>
          </a:prstGeom>
          <a:noFill/>
          <a:ln w="1905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309360" y="3767328"/>
            <a:ext cx="2468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00800" y="37673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— Contingency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" y="4297680"/>
            <a:ext cx="246888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57200" y="42976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MM (inbound)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834640" y="4517136"/>
            <a:ext cx="50292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337560" y="4297680"/>
            <a:ext cx="246888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429000" y="42976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sync scheduler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806440" y="4517136"/>
            <a:ext cx="50292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309360" y="4297680"/>
            <a:ext cx="246888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00800" y="42976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— Purchase orders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28032"/>
            <a:ext cx="274320" cy="274320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822960" y="4818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Pipe-Up  |  FEED 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API handshake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approved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325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verifies field data. LEM status changes to 'reconciled' in Pipe-Up.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4380" y="1508760"/>
            <a:ext cx="0" cy="29260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847088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1801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fires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0756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 retrieves reconciled line items, WBS tags, and daily report references.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4380" y="2258568"/>
            <a:ext cx="0" cy="29260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596896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2551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282549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Pipe-Up WBS codes mapped to SAP PS elements. Costs mapped to SAP CO cost elements. Amounts validated.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4380" y="3008376"/>
            <a:ext cx="0" cy="29260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346704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346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3300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to SAP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357530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sent via BAPI or OData endpoint. SAP returns document number for traceability.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4380" y="3758184"/>
            <a:ext cx="0" cy="29260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09651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4096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4050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stored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43251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document ID stored against Pipe-Up line item. If rejected, queued for retry with diagnostics.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1051560"/>
            <a:ext cx="38404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1051560"/>
            <a:ext cx="3840480" cy="54864"/>
          </a:xfrm>
          <a:prstGeom prst="rect">
            <a:avLst/>
          </a:prstGeom>
          <a:solidFill>
            <a:srgbClr val="1B5E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8348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details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83480" y="1691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7220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via SAP BTP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21671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APIs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21671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BAPI_ACC_ACTIVITY_ALLOC_POST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BAPI_PS_PRECOMMIT_POST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BAPI_INCOMINGINVOICE_CREATE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264261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APIs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264261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BAPI_PO_GETDETAIL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OData: API_ENTERPRISE_PROJECT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83480" y="311810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mode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31181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(webhook)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nightly batch for EVM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83480" y="359359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72200" y="35935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queue with alerting.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Pending_sync until confirmed.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83480" y="4069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key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72200" y="4069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po_number 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contractor_lem_uploads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28032"/>
            <a:ext cx="274320" cy="27432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822960" y="4818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Pipe-Up  |  FEED 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changes for the owner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5661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Pipe-Up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Pipe-Up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 billing entered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into SAP as-is. No field check.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SAP posting reconciled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against inspector-verified data.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Earned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reported by contractor.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CPI/SPI on unverified data.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verified by inspector.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EVM reflects actual field status.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 by contractor claims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estimates only.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 by inspector reports,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reconciled LEMs, risk closeouts.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Discovered at month-end.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too late to act.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at point of reconciliation.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Actionable in real time.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trail assembled post-hoc.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cross-referencing.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audit trail built in real time.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posting traceable to source.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2803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4818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Pipe-Up  |  FEED 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 of concept: [142 km NPS 16 pipeline]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km NPS 16  |  FEED estimate $68.4M  |  WorleyParsons Class 3  |  2014 construction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28016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280160"/>
            <a:ext cx="28346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943600" y="1280160"/>
            <a:ext cx="54864" cy="3200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7220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variances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172200" y="18288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 +$2.7M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Pembina River sand collapse. Remedial drill 210m vs 180m est.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Mob/Demob +$1.6M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breakup 18 days early. Access road repair + standby.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Crossings -$300K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Favourable ground, no permit delays.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Hydrotest -$200K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continuous run. No re-test.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82803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4818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Pipe-Up  |  FEED Intelligence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91150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26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96266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099820"/>
            <a:ext cx="822960" cy="2560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0998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83080" y="10358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cost posting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83080" y="14015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10541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 LEM actuals → SAP CO. Highest-value connection. Every dollar field-verified.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7957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1795780"/>
            <a:ext cx="54864" cy="777240"/>
          </a:xfrm>
          <a:prstGeom prst="rect">
            <a:avLst/>
          </a:prstGeom>
          <a:solidFill>
            <a:srgbClr val="1B5E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7240" y="1932939"/>
            <a:ext cx="822960" cy="256032"/>
          </a:xfrm>
          <a:prstGeom prst="rect">
            <a:avLst/>
          </a:prstGeom>
          <a:solidFill>
            <a:srgbClr val="1B5E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1932939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3080" y="18689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PO sync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83080" y="22346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18872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MM purchase orders → Pipe-Up. Completes PO-to-field-to-SAP traceability chain.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6162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2616200"/>
            <a:ext cx="54864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2753360"/>
            <a:ext cx="822960" cy="2560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27533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26893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+ FI integration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83080" y="3055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2707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progress → SAP PS earned value. Approved invoices → SAP FI AP. Risk contingency drawdown.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4366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3436620"/>
            <a:ext cx="54864" cy="7772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77240" y="3573779"/>
            <a:ext cx="822960" cy="25603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3573779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83080" y="35097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layer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783080" y="38755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0" y="35280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data ($/m by WBS, labour splits, HDD $/crossing-metre) → SAP BW for cross-project comparison.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262120"/>
            <a:ext cx="8046720" cy="4572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4262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12–19 weeks to full integration  |  Value delivered from Phase 1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28032"/>
            <a:ext cx="274320" cy="27432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22960" y="4818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Pipe-Up  |  FEED 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9070848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SAP tells you what was paid.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Pipe-Up tells you whether it matches what was built.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verification layer that makes SAP data trustworthy.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 Judson  |  Pipe-Up Inc.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app.pipe-up.ca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B3673D-A829-8F45-A757-FB3564C253E3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860</Words>
  <Application>Microsoft Macintosh PowerPoint</Application>
  <PresentationFormat>On-screen Show (16:9)</PresentationFormat>
  <Paragraphs>176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FEED Intelligence + SAP Integration</dc:title>
  <dc:subject>PptxGenJS Presentation</dc:subject>
  <dc:creator>Rick Judson</dc:creator>
  <cp:lastModifiedBy>Rick Judson</cp:lastModifiedBy>
  <cp:revision>4</cp:revision>
  <dcterms:created xsi:type="dcterms:W3CDTF">2026-03-20T19:17:29Z</dcterms:created>
  <dcterms:modified xsi:type="dcterms:W3CDTF">2026-03-20T20:48:08Z</dcterms:modified>
</cp:coreProperties>
</file>